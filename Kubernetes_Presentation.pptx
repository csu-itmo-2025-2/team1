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Развертывание микросервисной архитектуры</a:t>
            </a:r>
          </a:p>
          <a:p>
            <a:r>
              <a:t>в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HR-ассистент: система оценки резюме и генерации вопросов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микросервисов:</a:t>
            </a:r>
          </a:p>
          <a:p>
            <a:pPr/>
            <a:r>
              <a:t>• Core API (FastAPI) - основной API-сервис</a:t>
            </a:r>
          </a:p>
          <a:p>
            <a:pPr/>
            <a:r>
              <a:t>• Frontend (Streamlit) - веб-интерфейс</a:t>
            </a:r>
          </a:p>
          <a:p>
            <a:pPr/>
            <a:r>
              <a:t>• Job Description Service - генерация описаний вакансий</a:t>
            </a:r>
          </a:p>
          <a:p>
            <a:pPr/>
            <a:r>
              <a:t>• Question Generation Service - генерация вопросов</a:t>
            </a:r>
          </a:p>
          <a:p>
            <a:pPr/>
            <a:r>
              <a:t>• Resume Evaluation Service - оценка резюме</a:t>
            </a:r>
          </a:p>
          <a:p>
            <a:pPr/>
            <a:r>
              <a:t>• PostgreSQL - база данных</a:t>
            </a:r>
          </a:p>
          <a:p>
            <a:pPr/>
            <a:r>
              <a:t>• RabbitMQ - брокер сообщений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Взаимодействие между сервисами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Схема взаимодействия:</a:t>
            </a:r>
          </a:p>
          <a:p>
            <a:pPr>
              <a:defRPr sz="1800" b="1"/>
            </a:pPr>
            <a:r>
              <a:t>Frontend → Core API → PostgreSQL</a:t>
            </a:r>
          </a:p>
          <a:p>
            <a:pPr>
              <a:defRPr sz="1800" b="1"/>
            </a:pPr>
            <a:r>
              <a:t>Core API → RabbitMQ → Worker Services</a:t>
            </a:r>
          </a:p>
          <a:p>
            <a:pPr/>
          </a:p>
          <a:p>
            <a:pPr>
              <a:defRPr b="1"/>
            </a:pPr>
            <a:r>
              <a:t>Очереди RabbitMQ:</a:t>
            </a:r>
          </a:p>
          <a:p>
            <a:pPr lvl="1"/>
            <a:r>
              <a:t>• job_description_queue</a:t>
            </a:r>
          </a:p>
          <a:p>
            <a:pPr lvl="1"/>
            <a:r>
              <a:t>• question_generation_queue</a:t>
            </a:r>
          </a:p>
          <a:p>
            <a:pPr lvl="1"/>
            <a:r>
              <a:t>• resume_evaluation_queue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Развертывание через 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Иерархическая структура Helm charts:</a:t>
            </a:r>
          </a:p>
          <a:p>
            <a:pPr/>
            <a:r>
              <a:t>• Главный chart с зависимостями от 7 subcharts</a:t>
            </a:r>
          </a:p>
          <a:p>
            <a:pPr/>
            <a:r>
              <a:t>• Каждый сервис изолирован в своем subchart</a:t>
            </a:r>
          </a:p>
          <a:p>
            <a:pPr/>
            <a:r>
              <a:t>• Helper-функции для переиспользования кода</a:t>
            </a:r>
          </a:p>
          <a:p>
            <a:pPr/>
            <a:r>
              <a:t>• Гибкая настройка через values.yaml</a:t>
            </a:r>
          </a:p>
          <a:p>
            <a:pPr/>
          </a:p>
          <a:p>
            <a:pPr>
              <a:defRPr b="1"/>
            </a:pPr>
            <a:r>
              <a:t>Команды развертывания:</a:t>
            </a:r>
          </a:p>
          <a:p>
            <a:pPr lvl="1">
              <a:defRPr>
                <a:latin typeface="Courier New"/>
              </a:defRPr>
            </a:pPr>
            <a:r>
              <a:t>helm install team1 devops/helm --namespace team1-ns</a:t>
            </a:r>
          </a:p>
          <a:p>
            <a:pPr lvl="1">
              <a:defRPr>
                <a:latin typeface="Courier New"/>
              </a:defRPr>
            </a:pPr>
            <a:r>
              <a:t>helm upgrade team1 devops/helm --namespace team1-ns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GitOps-деплой с ArgoCD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Автоматическое развертывание:</a:t>
            </a:r>
          </a:p>
          <a:p>
            <a:pPr/>
            <a:r>
              <a:t>• Отдельный GitOps-репозиторий для конфигураций</a:t>
            </a:r>
          </a:p>
          <a:p>
            <a:pPr/>
            <a:r>
              <a:t>• CI/CD автоматически обновляет образы в GitOps</a:t>
            </a:r>
          </a:p>
          <a:p>
            <a:pPr/>
            <a:r>
              <a:t>• ArgoCD синхронизирует состояние кластера с Git</a:t>
            </a:r>
          </a:p>
          <a:p>
            <a:pPr/>
            <a:r>
              <a:t>• Автоматическое создание Pull Request при обновлениях</a:t>
            </a:r>
          </a:p>
          <a:p>
            <a:pPr/>
          </a:p>
          <a:p>
            <a:pPr>
              <a:defRPr b="1"/>
            </a:pPr>
            <a:r>
              <a:t>Преимущества:</a:t>
            </a:r>
          </a:p>
          <a:p>
            <a:pPr lvl="1"/>
            <a:r>
              <a:t>• Версионирование конфигураций</a:t>
            </a:r>
          </a:p>
          <a:p>
            <a:pPr lvl="1"/>
            <a:r>
              <a:t>• Откат изменений через Git</a:t>
            </a:r>
          </a:p>
          <a:p>
            <a:pPr lvl="1"/>
            <a:r>
              <a:t>• Прозрачность и аудит изменений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CI/CD-пайплайн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 автоматизирует:</a:t>
            </a:r>
          </a:p>
          <a:p>
            <a:pPr/>
            <a:r>
              <a:t>1. Сборка Docker-образов для всех сервисов</a:t>
            </a:r>
          </a:p>
          <a:p>
            <a:pPr/>
            <a:r>
              <a:t>2. Публикация в GitHub Container Registry (GHCR)</a:t>
            </a:r>
          </a:p>
          <a:p>
            <a:pPr/>
            <a:r>
              <a:t>3. Обновление тегов образов в GitOps-репозитории</a:t>
            </a:r>
          </a:p>
          <a:p>
            <a:pPr/>
            <a:r>
              <a:t>4. Создание Pull Request для развертывания</a:t>
            </a:r>
          </a:p>
          <a:p>
            <a:pPr/>
          </a:p>
          <a:p>
            <a:pPr>
              <a:defRPr b="1"/>
            </a:pPr>
            <a:r>
              <a:t>Образы:</a:t>
            </a:r>
          </a:p>
          <a:p>
            <a:pPr lvl="1"/>
            <a:r>
              <a:t>• core-api, frontend</a:t>
            </a:r>
          </a:p>
          <a:p>
            <a:pPr lvl="1"/>
            <a:r>
              <a:t>• resume-evaluation-worker</a:t>
            </a:r>
          </a:p>
          <a:p>
            <a:pPr lvl="1"/>
            <a:r>
              <a:t>• job-description-worker</a:t>
            </a:r>
          </a:p>
          <a:p>
            <a:pPr lvl="1"/>
            <a:r>
              <a:t>• question-generation-worker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Управление секретами и конфигурациями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HashiCorp Vault через External Secrets:</a:t>
            </a:r>
          </a:p>
          <a:p>
            <a:pPr/>
            <a:r>
              <a:t>• team1/hr-assist/shared - общие секреты (OpenAI API Key)</a:t>
            </a:r>
          </a:p>
          <a:p>
            <a:pPr/>
            <a:r>
              <a:t>• team1/hr-assist/postgres - секреты PostgreSQL</a:t>
            </a:r>
          </a:p>
          <a:p>
            <a:pPr/>
            <a:r>
              <a:t>• team1/hr-assist/rabbitmq - секреты RabbitMQ</a:t>
            </a:r>
          </a:p>
          <a:p>
            <a:pPr/>
            <a:r>
              <a:t>• team1/hr-assist/auth - секреты аутентификации</a:t>
            </a:r>
          </a:p>
          <a:p>
            <a:pPr/>
          </a:p>
          <a:p>
            <a:pPr>
              <a:defRPr b="1"/>
            </a:pPr>
            <a:r>
              <a:t>ConfigMap для несекретных настроек:</a:t>
            </a:r>
          </a:p>
          <a:p>
            <a:pPr lvl="1"/>
            <a:r>
              <a:t>• Порты, хосты, URL</a:t>
            </a:r>
          </a:p>
          <a:p>
            <a:pPr lvl="1"/>
            <a:r>
              <a:t>• Настройки моделей LLM</a:t>
            </a:r>
          </a:p>
          <a:p>
            <a:pPr lvl="1"/>
            <a:r>
              <a:t>• Другие параметры конфигурации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 (Role-Based Access Control):</a:t>
            </a:r>
          </a:p>
          <a:p>
            <a:pPr/>
            <a:r>
              <a:t>• ServiceAccount для каждого сервиса</a:t>
            </a:r>
          </a:p>
          <a:p>
            <a:pPr/>
            <a:r>
              <a:t>• Role с правами только на чтение своих секретов</a:t>
            </a:r>
          </a:p>
          <a:p>
            <a:pPr/>
            <a:r>
              <a:t>• Принцип наименьших привилегий</a:t>
            </a:r>
          </a:p>
          <a:p>
            <a:pPr/>
          </a:p>
          <a:p>
            <a:pPr>
              <a:defRPr b="1"/>
            </a:pPr>
            <a:r>
              <a:t>HTTPS и Ingress:</a:t>
            </a:r>
          </a:p>
          <a:p>
            <a:pPr lvl="1"/>
            <a:r>
              <a:t>• Ingress с поддержкой TLS</a:t>
            </a:r>
          </a:p>
          <a:p>
            <a:pPr lvl="1"/>
            <a:r>
              <a:t>• Маршрутизация: / → Frontend, /api → Core API</a:t>
            </a:r>
          </a:p>
          <a:p>
            <a:pPr/>
          </a:p>
          <a:p>
            <a:pPr>
              <a:defRPr b="1"/>
            </a:pPr>
            <a:r>
              <a:t>Network Policies:</a:t>
            </a:r>
          </a:p>
          <a:p>
            <a:pPr lvl="1"/>
            <a:r>
              <a:t>• Контроль исходящего трафика</a:t>
            </a:r>
          </a:p>
          <a:p>
            <a:pPr lvl="1"/>
            <a:r>
              <a:t>• Запросы к OpenAI через прокси (Squid)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Масштабирование и отказоустойчивость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HPA (Horizontal Pod Autoscaler):</a:t>
            </a:r>
          </a:p>
          <a:p>
            <a:pPr/>
            <a:r>
              <a:t>• Core API: 2-5 реплик на основе памяти (70%)</a:t>
            </a:r>
          </a:p>
          <a:p>
            <a:pPr/>
            <a:r>
              <a:t>• Frontend: 2-5 реплик на основе памяти (70%)</a:t>
            </a:r>
          </a:p>
          <a:p>
            <a:pPr/>
            <a:r>
              <a:t>• Быстрое масштабирование вверх, плавное вниз</a:t>
            </a:r>
          </a:p>
          <a:p>
            <a:pPr/>
          </a:p>
          <a:p>
            <a:pPr>
              <a:defRPr b="1"/>
            </a:pPr>
            <a:r>
              <a:t>KEDA для worker-сервисов:</a:t>
            </a:r>
          </a:p>
          <a:p>
            <a:pPr lvl="1"/>
            <a:r>
              <a:t>• Масштабирование на основе длины очереди RabbitMQ</a:t>
            </a:r>
          </a:p>
          <a:p>
            <a:pPr lvl="1"/>
            <a:r>
              <a:t>• 1-5 реплик в зависимости от нагрузки</a:t>
            </a:r>
          </a:p>
          <a:p>
            <a:pPr/>
          </a:p>
          <a:p>
            <a:pPr>
              <a:defRPr b="1"/>
            </a:pPr>
            <a:r>
              <a:t>Health Checks (Probes):</a:t>
            </a:r>
          </a:p>
          <a:p>
            <a:pPr lvl="1"/>
            <a:r>
              <a:t>• Liveness и readiness probes для всех сервисов</a:t>
            </a:r>
          </a:p>
          <a:p>
            <a:pPr lvl="1"/>
            <a:r>
              <a:t>• Автоматический перезапуск неработающих контейнеров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Chaos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Тестирование отказоустойчивости:</a:t>
            </a:r>
          </a:p>
          <a:p>
            <a:pPr/>
            <a:r>
              <a:t>• Использование Chaos Mesh для экспериментов</a:t>
            </a:r>
          </a:p>
          <a:p>
            <a:pPr/>
            <a:r>
              <a:t>• Тестирование поведения системы при сбоях</a:t>
            </a:r>
          </a:p>
          <a:p>
            <a:pPr/>
            <a:r>
              <a:t>• Проверка механизмов восстановления</a:t>
            </a:r>
          </a:p>
          <a:p>
            <a:pPr/>
          </a:p>
          <a:p>
            <a:pPr>
              <a:defRPr b="1"/>
            </a:pPr>
            <a:r>
              <a:t>Типы экспериментов:</a:t>
            </a:r>
          </a:p>
          <a:p>
            <a:pPr lvl="1"/>
            <a:r>
              <a:t>• Pod Failure - остановка подов</a:t>
            </a:r>
          </a:p>
          <a:p>
            <a:pPr lvl="1"/>
            <a:r>
              <a:t>• Network Partition - разделение сети</a:t>
            </a:r>
          </a:p>
          <a:p>
            <a:pPr lvl="1"/>
            <a:r>
              <a:t>• CPU/Memory Stress - нагрузка на ресурсы</a:t>
            </a:r>
          </a:p>
          <a:p>
            <a:pPr/>
          </a:p>
          <a:p>
            <a:pPr>
              <a:defRPr b="1"/>
            </a:pPr>
            <a:r>
              <a:t>Результаты:</a:t>
            </a:r>
          </a:p>
          <a:p>
            <a:pPr lvl="1"/>
            <a:r>
              <a:t>• Проверка работы HPA и KEDA</a:t>
            </a:r>
          </a:p>
          <a:p>
            <a:pPr lvl="1"/>
            <a:r>
              <a:t>• Валидация механизмов retry и fallback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Взаимодействие через Pub/Sub (RabbitMQ)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Архитектура сообщений:</a:t>
            </a:r>
          </a:p>
          <a:p>
            <a:pPr/>
            <a:r>
              <a:t>• Core API публикует задачи в очереди RabbitMQ</a:t>
            </a:r>
          </a:p>
          <a:p>
            <a:pPr/>
            <a:r>
              <a:t>• Worker-сервисы подписываются на очереди</a:t>
            </a:r>
          </a:p>
          <a:p>
            <a:pPr/>
            <a:r>
              <a:t>• Асинхронная обработка задач</a:t>
            </a:r>
          </a:p>
          <a:p>
            <a:pPr/>
          </a:p>
          <a:p>
            <a:pPr>
              <a:defRPr b="1"/>
            </a:pPr>
            <a:r>
              <a:t>Преимущества:</a:t>
            </a:r>
          </a:p>
          <a:p>
            <a:pPr lvl="1"/>
            <a:r>
              <a:t>• Развязка сервисов</a:t>
            </a:r>
          </a:p>
          <a:p>
            <a:pPr lvl="1"/>
            <a:r>
              <a:t>• Масштабируемость (KEDA)</a:t>
            </a:r>
          </a:p>
          <a:p>
            <a:pPr lvl="1"/>
            <a:r>
              <a:t>• Отказоустойчивость (сообщения сохраняются)</a:t>
            </a:r>
          </a:p>
          <a:p>
            <a:pPr lvl="1"/>
            <a:r>
              <a:t>• Распределение нагрузки</a:t>
            </a:r>
          </a:p>
          <a:p>
            <a:pPr/>
          </a:p>
          <a:p>
            <a:pPr>
              <a:defRPr b="1"/>
            </a:pPr>
            <a:r>
              <a:t>Метрики:</a:t>
            </a:r>
          </a:p>
          <a:p>
            <a:pPr lvl="1"/>
            <a:r>
              <a:t>• Prometheus метрики на порту 15692</a:t>
            </a:r>
          </a:p>
          <a:p>
            <a:pPr lvl="1"/>
            <a:r>
              <a:t>• Используются KEDA для автомасштабирования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Документация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Документированные компоненты:</a:t>
            </a:r>
          </a:p>
          <a:p>
            <a:pPr/>
            <a:r>
              <a:t>• Инструкция по развертыванию (KUBERNETES_README.md)</a:t>
            </a:r>
          </a:p>
          <a:p>
            <a:pPr/>
            <a:r>
              <a:t>• Описание архитектуры системы</a:t>
            </a:r>
          </a:p>
          <a:p>
            <a:pPr/>
            <a:r>
              <a:t>• Команды для установки и обновления</a:t>
            </a:r>
          </a:p>
          <a:p>
            <a:pPr/>
            <a:r>
              <a:t>• Устранение неполадок</a:t>
            </a:r>
          </a:p>
          <a:p>
            <a:pPr/>
          </a:p>
          <a:p>
            <a:pPr>
              <a:defRPr b="1"/>
            </a:pPr>
            <a:r>
              <a:t>Структура Helm charts:</a:t>
            </a:r>
          </a:p>
          <a:p>
            <a:pPr lvl="1"/>
            <a:r>
              <a:t>• Описание каждого subchart</a:t>
            </a:r>
          </a:p>
          <a:p>
            <a:pPr lvl="1"/>
            <a:r>
              <a:t>• Комментарии в шаблонах</a:t>
            </a:r>
          </a:p>
          <a:p>
            <a:pPr lvl="1"/>
            <a:r>
              <a:t>• Примеры конфигураций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реализации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Реализованные компоненты:</a:t>
            </a:r>
          </a:p>
          <a:p>
            <a:pPr/>
            <a:r>
              <a:t>✅ 7 микросервисов (превышает требование ≥3)</a:t>
            </a:r>
          </a:p>
          <a:p>
            <a:pPr/>
            <a:r>
              <a:t>✅ Развертывание через Helm с иерархической структурой</a:t>
            </a:r>
          </a:p>
          <a:p>
            <a:pPr/>
            <a:r>
              <a:t>✅ GitOps-деплой с ArgoCD</a:t>
            </a:r>
          </a:p>
          <a:p>
            <a:pPr/>
            <a:r>
              <a:t>✅ CI/CD-пайплайн (GitHub Actions)</a:t>
            </a:r>
          </a:p>
          <a:p>
            <a:pPr/>
            <a:r>
              <a:t>✅ Управление секретами (Vault, ConfigMap, Secrets)</a:t>
            </a:r>
          </a:p>
          <a:p>
            <a:pPr/>
            <a:r>
              <a:t>✅ Безопасность (RBAC, HTTPS, Network Policies)</a:t>
            </a:r>
          </a:p>
          <a:p>
            <a:pPr/>
            <a:r>
              <a:t>✅ Масштабирование (HPA, KEDA, Probes)</a:t>
            </a:r>
          </a:p>
          <a:p>
            <a:pPr/>
            <a:r>
              <a:t>✅ Chaos Engineering (Chaos Mesh)</a:t>
            </a:r>
          </a:p>
          <a:p>
            <a:pPr/>
            <a:r>
              <a:t>✅ Pub/Sub взаимодействие (RabbitMQ)</a:t>
            </a:r>
          </a:p>
          <a:p>
            <a:pPr/>
            <a:r>
              <a:t>✅ Полная документация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 участников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Команда разработки:</a:t>
            </a:r>
          </a:p>
          <a:p>
            <a:pPr/>
            <a:r>
              <a:t>• Поляков Егор - Развертывание через Helm, Probes</a:t>
            </a:r>
          </a:p>
          <a:p>
            <a:pPr/>
          </a:p>
          <a:p>
            <a:pPr>
              <a:defRPr b="1"/>
            </a:pPr>
            <a:r>
              <a:t>Проект: HR-ассистент</a:t>
            </a:r>
          </a:p>
          <a:p>
            <a:pPr/>
            <a:r>
              <a:t>Система оценки резюме и генерации вопросов для интервью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